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9696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96960" cy="3026664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9933920" cy="3474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_1_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0" y="777240"/>
            <a:ext cx="2103120" cy="2103120"/>
          </a:xfrm>
          <a:prstGeom prst="rect">
            <a:avLst/>
          </a:prstGeom>
        </p:spPr>
      </p:pic>
      <p:pic>
        <p:nvPicPr>
          <p:cNvPr id="5" name="Picture 4" descr="img_2_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77240"/>
            <a:ext cx="2194560" cy="1719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83280" y="640080"/>
            <a:ext cx="146304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600">
                <a:solidFill>
                  <a:srgbClr val="1A237E"/>
                </a:solidFill>
              </a:defRPr>
            </a:pPr>
            <a:r>
              <a:t>عنوان پروژه: تلفیق چندحالته ویژگی‌های ردیابی شناختی مغز و محرک‌های دیداری جهت پیش‌بینی توجه بصری (BrainGaze)</a:t>
            </a:r>
          </a:p>
          <a:p>
            <a:pPr algn="ctr">
              <a:defRPr b="1" sz="1700">
                <a:solidFill>
                  <a:srgbClr val="4A148C"/>
                </a:solidFill>
              </a:defRPr>
            </a:pPr>
            <a:r>
              <a:t>ممیزی تشخیصی و مهار قطعی پدیده «یادگیری میان‌بُر» با مسیریابی پیمانه‌ای شناختی-دیداری (CVMR)</a:t>
            </a:r>
          </a:p>
          <a:p>
            <a:pPr algn="ctr">
              <a:defRPr b="1" sz="2000">
                <a:solidFill>
                  <a:srgbClr val="0F172A"/>
                </a:solidFill>
              </a:defRPr>
            </a:pPr>
            <a:r>
              <a:t>دانشجو: مهدی عبدالله‌زاده               استاد راهنما: دکتر محمدعلی اخائی</a:t>
            </a:r>
          </a:p>
          <a:p>
            <a:pPr algn="ctr">
              <a:defRPr sz="1700">
                <a:solidFill>
                  <a:srgbClr val="475569"/>
                </a:solidFill>
              </a:defRPr>
            </a:pPr>
            <a:r>
              <a:t>دانشکده مهندسی برق و کامپیوتر، دانشگاه تهران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4297680"/>
            <a:ext cx="9692640" cy="548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4434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200">
                <a:solidFill>
                  <a:srgbClr val="4A148C"/>
                </a:solidFill>
              </a:defRPr>
            </a:pPr>
            <a:r>
              <a:t>مقدمه / خلاصه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5029200"/>
            <a:ext cx="89611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50">
                <a:solidFill>
                  <a:srgbClr val="1E293B"/>
                </a:solidFill>
              </a:defRPr>
            </a:pPr>
            <a:r>
              <a:t>• نوع پروژه: تحقیقاتی کاربردی و شبیه‌سازی عمیق چندوجهی (Deep Multimodal Learning) با واسط‌های مغز و رایانه (BCI).</a:t>
            </a:r>
          </a:p>
          <a:p>
            <a:pPr algn="r">
              <a:defRPr sz="1350">
                <a:solidFill>
                  <a:srgbClr val="1E293B"/>
                </a:solidFill>
              </a:defRPr>
            </a:pPr>
            <a:r>
              <a:t>• اهداف پروژه: پیش‌بینی و بازسازی نقشه توجه بصری شخصی‌سازی‌شده ناظر با تلفیق سیگنال‌های ۳۲ کاناله EEG و محرک‌های دیداری، و مهار پدیده «فروپاشی مُدالیته» (Modality Collapse).</a:t>
            </a:r>
          </a:p>
          <a:p>
            <a:pPr algn="r">
              <a:defRPr sz="1350">
                <a:solidFill>
                  <a:srgbClr val="1E293B"/>
                </a:solidFill>
              </a:defRPr>
            </a:pPr>
            <a:r>
              <a:t>• سوال اصلی و فرضیه: چرا مدل‌های عصبی-دیداری مرجع، سیگنال مغزی را نادیده گرفته و به میان‌بُر تصویری پناه می‌برند؟ آیا می‌توان با طراحی معماری بدون زیرفضای پوچ، استفاده از سیگنال مغز را از نظر ریاضی گریزناپذیر کرد؟</a:t>
            </a:r>
          </a:p>
          <a:p>
            <a:pPr algn="r">
              <a:defRPr sz="1350">
                <a:solidFill>
                  <a:srgbClr val="1E293B"/>
                </a:solidFill>
              </a:defRPr>
            </a:pPr>
            <a:r>
              <a:t>• روش پاسخ: تدوین «استاندارد تشخیصی عصبی-بینایی» (NVDS) برای ممیزی رخنه‌گاه‌های FiLM و گیت‌های پسماند، و طراحی معماری نوین BrainGaze بر پایه مسیریابی پیمانه‌ای شناختی-دیداری (CVMR).</a:t>
            </a:r>
          </a:p>
          <a:p>
            <a:pPr algn="r">
              <a:defRPr sz="1350">
                <a:solidFill>
                  <a:srgbClr val="1E293B"/>
                </a:solidFill>
              </a:defRPr>
            </a:pPr>
            <a:r>
              <a:t>• دستاوردها: مهار قطعی میان‌بُر، ارتقای همبستگی به CC = 0.8609 و دستیابی به حساسیت زیستی فعال +24.65% در برابر نویز مغزی.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9966960"/>
            <a:ext cx="9692640" cy="19568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101041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200">
                <a:solidFill>
                  <a:srgbClr val="4A148C"/>
                </a:solidFill>
              </a:defRPr>
            </a:pPr>
            <a:r>
              <a:t>روش/ساختار/مدل پیشنهادی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10698480"/>
            <a:ext cx="8961120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20">
                <a:solidFill>
                  <a:srgbClr val="1E293B"/>
                </a:solidFill>
              </a:defRPr>
            </a:pPr>
            <a:r>
              <a:t>معماری تحول‌آفرین BrainGaze (CVMR) بر اصل «تقسیم کار دوخطی» و حذف ساختاری زیرفضای پوچ استوار است:</a:t>
            </a:r>
          </a:p>
          <a:p>
            <a:pPr algn="r">
              <a:defRPr sz="1320">
                <a:solidFill>
                  <a:srgbClr val="1E293B"/>
                </a:solidFill>
              </a:defRPr>
            </a:pPr>
            <a:r>
              <a:t>۱. شاخه دیداری: استخراج ویژگی توسط ResNet-18 منجمد و تولید K=8 نقشه پایه مکانی متعامد (M_1 ... M_8) تحت قید تعامدی گرام و قضیه پارسوال (L_ortho).</a:t>
            </a:r>
          </a:p>
          <a:p>
            <a:pPr algn="r">
              <a:defRPr sz="1320">
                <a:solidFill>
                  <a:srgbClr val="1E293B"/>
                </a:solidFill>
              </a:defRPr>
            </a:pPr>
            <a:r>
              <a:t>۲. شاخه شناختی مغز: عبور سیگنال ۳۲ کاناله EEG از انکودر زمانی (Conv1D) و ترانسفورمر مکانی-زمانی به همراه بردار هویت سوژه، جهت تعیین وزن‌های مسیریابی α ∈ Δ⁸ با حداکثر آنتروپی (L_div).</a:t>
            </a:r>
          </a:p>
          <a:p>
            <a:pPr algn="r">
              <a:defRPr sz="1320">
                <a:solidFill>
                  <a:srgbClr val="1E293B"/>
                </a:solidFill>
              </a:defRPr>
            </a:pPr>
            <a:r>
              <a:t>۳. تلفیق دوخطی پیمانه‌ای: بازسازی نقشه توجه Ŷ = ∑ α_k M_k؛ طبق قضیه تعبیه هم‌اندازه پارسوال (||ΔŶ||_L² ≡ ||Δα||₂)، هر تغییر در حالت مغز الزاماً نقشه توجه را جابجا کرده و دور زدن مغز از نظر ریاضی ناممکن است.</a:t>
            </a:r>
          </a:p>
          <a:p>
            <a:pPr algn="r">
              <a:defRPr sz="1320">
                <a:solidFill>
                  <a:srgbClr val="1E293B"/>
                </a:solidFill>
              </a:defRPr>
            </a:pPr>
            <a:r>
              <a:t>• محیط و دادگان: پیاده‌سازی در PyTorch بر روی دادگان BGD (شامل ۳,۲۳۴ نمونه ثبت همزمان EEG ناظران و تصاویر MS COCO). ارزیابی با معیارهای CC, KLD, SIM, NSS و آزمون‌های پنج‌گانه ممیزی تشخیصی NVDS.</a:t>
            </a:r>
          </a:p>
        </p:txBody>
      </p:sp>
      <p:pic>
        <p:nvPicPr>
          <p:cNvPr id="13" name="Picture 12" descr="poster_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0" y="16093440"/>
            <a:ext cx="8961120" cy="508360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1338560" y="22128480"/>
            <a:ext cx="8961120" cy="6949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22311360"/>
            <a:ext cx="8595360" cy="6583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b="1" sz="1400">
                <a:solidFill>
                  <a:srgbClr val="1A237E"/>
                </a:solidFill>
              </a:defRPr>
            </a:pPr>
            <a:r>
              <a:t>★ مبانی ریاضی و حذف رخنه‌گاه زیرفضای پوچ دکودر:</a:t>
            </a:r>
          </a:p>
          <a:p>
            <a:pPr algn="r">
              <a:defRPr sz="1200">
                <a:solidFill>
                  <a:srgbClr val="1E293B"/>
                </a:solidFill>
              </a:defRPr>
            </a:pPr>
            <a:r>
              <a:t>• تضمین هم‌اندازگی پارسوال: ||Ŷ₁ - Ŷ₂||_L² ≡ ||α₁ - α₂||₂ (تطابق کامل متریک اقلیدسی مغز و فضای بازسازی دیداری).</a:t>
            </a:r>
          </a:p>
          <a:p>
            <a:pPr algn="r">
              <a:defRPr sz="1200">
                <a:solidFill>
                  <a:srgbClr val="1E293B"/>
                </a:solidFill>
              </a:defRPr>
            </a:pPr>
            <a:r>
              <a:t>• حذف زیرفضای پوچ: ker(∇_α Ŷ) = {0} (برخلاف دکودرهای غیرخطی، هیچ بردار عصبی نمی‌تواند توسط شبکه خنثی شود).</a:t>
            </a:r>
          </a:p>
          <a:p>
            <a:pPr algn="r">
              <a:defRPr sz="1200">
                <a:solidFill>
                  <a:srgbClr val="1E293B"/>
                </a:solidFill>
              </a:defRPr>
            </a:pPr>
            <a:r>
              <a:t>• تابع هزینه جامع: L_total = -CC(Ŷ, Y) + 0.5·KLD(Ŷ, Y) + λ_ortho·L_ortho + λ_div·L_div</a:t>
            </a:r>
          </a:p>
          <a:p>
            <a:pPr algn="r">
              <a:defRPr sz="1200">
                <a:solidFill>
                  <a:srgbClr val="1E293B"/>
                </a:solidFill>
              </a:defRPr>
            </a:pPr>
            <a:r>
              <a:t>• بهینه‌سازی محاسباتی: تنها ۴.۹۶ میلیون پارامتر (کاهش ۶۶.۸ درصدی حجم مدل) با آموزش ۴۶ دوره‌ای فوق‌پایدار.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9692640" cy="17556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200">
                <a:solidFill>
                  <a:srgbClr val="4A148C"/>
                </a:solidFill>
              </a:defRPr>
            </a:pPr>
            <a:r>
              <a:t>نتایج و تحلیل تجربی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89611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>
                <a:solidFill>
                  <a:srgbClr val="1E293B"/>
                </a:solidFill>
              </a:defRPr>
            </a:pPr>
            <a:r>
              <a:t>ارزیابی جامع تجربی بر روی دادگان آزمون، برتری قاطع BrainGaze در وفاداری بازسازی و مهار فروپاشی مُدالیته را اثبات می‌کند:</a:t>
            </a:r>
          </a:p>
          <a:p>
            <a:pPr algn="r">
              <a:defRPr sz="1300">
                <a:solidFill>
                  <a:srgbClr val="1E293B"/>
                </a:solidFill>
              </a:defRPr>
            </a:pPr>
            <a:r>
              <a:t>• دقت فراتر از وضعیت هنر: دستیابی به همبستگی شگفت‌انگیز CC = 0.8609، معیار شباهت SIM = 0.6970 و امتیاز NSS = 3.3032 با کاهش ۶۶.۸ درصدی پارامترها (تنها ۴.۹۶ میلیون پارامتر).</a:t>
            </a:r>
          </a:p>
          <a:p>
            <a:pPr algn="r">
              <a:defRPr sz="1300">
                <a:solidFill>
                  <a:srgbClr val="1E293B"/>
                </a:solidFill>
              </a:defRPr>
            </a:pPr>
            <a:r>
              <a:t>• ممیزی تشخیصی استرس‌تست NVDS: در آزمون جایگزینی نویز گاوسی، مدل پیشنهادی حساسیت واقعی +24.65% را ثبت کرد؛ در حالی که مدل‌های مرجع ادبیات (Palazzo, Wang, Min, Kaushik) دچار غلبه مطلق تصویر بوده و حساسیت نویز نزدیک به صفر (+0.00% تا +0.10%) داشتند.</a:t>
            </a:r>
          </a:p>
        </p:txBody>
      </p:sp>
      <p:pic>
        <p:nvPicPr>
          <p:cNvPr id="19" name="Picture 18" descr="poster_trio_fig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8412480"/>
            <a:ext cx="8961120" cy="874845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097280" y="17099280"/>
          <a:ext cx="8961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097280"/>
                <a:gridCol w="1371600"/>
                <a:gridCol w="1371600"/>
                <a:gridCol w="19202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معماری / مطالعه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نوع ورودی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دقت (CC)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حساسیت نویز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تمایز سوژه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وضعیت ممیزی NVDS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Palazzo et al. (TPAMI 2021)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EEG + ResNet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MSE = 0.59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❌ فروپاشی مُدالیته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Wang et al. (CVPR 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EEG + 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MSE = 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❌ فروپاشی مُدالیته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Min et al. (T-NSRE 2021)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EEG + CNN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0.6520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❌ فروپاشی مُدالیته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Kaushik et al. (NeuroImage)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EEG + 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0.6840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+0.01%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❌ فروپاشی مُدالیته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5803D"/>
                          </a:solidFill>
                        </a:defRPr>
                      </a:pPr>
                      <a:r>
                        <a:t>★ BrainGaze (مدل پیشنهادی)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5803D"/>
                          </a:solidFill>
                        </a:defRPr>
                      </a:pPr>
                      <a:r>
                        <a:t>EEG + ResNet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5803D"/>
                          </a:solidFill>
                        </a:defRPr>
                      </a:pPr>
                      <a:r>
                        <a:t>0.8609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5803D"/>
                          </a:solidFill>
                        </a:defRPr>
                      </a:pPr>
                      <a:r>
                        <a:t>+24.65%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5803D"/>
                          </a:solidFill>
                        </a:defRPr>
                      </a:pPr>
                      <a:r>
                        <a:t>+18.75%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15803D"/>
                          </a:solidFill>
                        </a:defRPr>
                      </a:pPr>
                      <a:r>
                        <a:t>✅ تأیید کامل NVDS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31520" y="22128480"/>
            <a:ext cx="9692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22656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200">
                <a:solidFill>
                  <a:srgbClr val="4A148C"/>
                </a:solidFill>
              </a:defRPr>
            </a:pPr>
            <a:r>
              <a:t>جمع بندی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2860000"/>
            <a:ext cx="89611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50">
                <a:solidFill>
                  <a:srgbClr val="1E293B"/>
                </a:solidFill>
              </a:defRPr>
            </a:pPr>
            <a:r>
              <a:t>در این پژوهش پدیده یادگیری میان‌بُر و غلبه تصویر در مدل‌های چندحالته عصبی-دیداری شناسایی و با تدوین استاندارد تشخیصی NVDS برای نخستین بار در ادبیات علمی ممیزی گردید. معماری BrainGaze با بهره‌گیری از مسیریابی پیمانه‌ای دوخطی و تضمین تعامد پارسوال، این چالش را به صورت قطعی مهار کرد.</a:t>
            </a:r>
          </a:p>
          <a:p>
            <a:pPr algn="r">
              <a:defRPr sz="1250">
                <a:solidFill>
                  <a:srgbClr val="1E293B"/>
                </a:solidFill>
              </a:defRPr>
            </a:pPr>
            <a:r>
              <a:t>• محدودیت‌ها: وابستگی به کیفیت ثبت الکترودهای سطحی EEG و ضرورت حذف برخط آرتیفکت‌های حرکتی و چشمی.</a:t>
            </a:r>
          </a:p>
          <a:p>
            <a:pPr algn="r">
              <a:defRPr sz="1250">
                <a:solidFill>
                  <a:srgbClr val="1E293B"/>
                </a:solidFill>
              </a:defRPr>
            </a:pPr>
            <a:r>
              <a:t>• کاربردهای صنعتی و بالینی:</a:t>
            </a:r>
          </a:p>
          <a:p>
            <a:pPr algn="r">
              <a:defRPr sz="1250">
                <a:solidFill>
                  <a:srgbClr val="1E293B"/>
                </a:solidFill>
              </a:defRPr>
            </a:pPr>
            <a:r>
              <a:t>۱. واسط‌های مغز و رایانه (BCI) پسیو بدون نیاز به ردیاب‌های چشمی گران‌قیمت (Eye-Tracker).</a:t>
            </a:r>
          </a:p>
          <a:p>
            <a:pPr algn="r">
              <a:defRPr sz="1250">
                <a:solidFill>
                  <a:srgbClr val="1E293B"/>
                </a:solidFill>
              </a:defRPr>
            </a:pPr>
            <a:r>
              <a:t>۲. رندرینگ متمرکز بر کانون توجه (Foveated Rendering) در هدست‌های واقعیت مجازی/افزوده (VR/AR).</a:t>
            </a:r>
          </a:p>
          <a:p>
            <a:pPr algn="r">
              <a:defRPr sz="1250">
                <a:solidFill>
                  <a:srgbClr val="1E293B"/>
                </a:solidFill>
              </a:defRPr>
            </a:pPr>
            <a:r>
              <a:t>۳. غربالگری بالینی و عینی اختلالات شناختی، نقص توجه و بیش‌فعالی (ADHD) و اوتیسم (ASD).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6791920"/>
            <a:ext cx="969264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692908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b="1" sz="2200">
                <a:solidFill>
                  <a:srgbClr val="4A148C"/>
                </a:solidFill>
              </a:defRPr>
            </a:pPr>
            <a:r>
              <a:t>مراجع اصلی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7432000"/>
            <a:ext cx="8961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475569"/>
                </a:solidFill>
              </a:defRPr>
            </a:pPr>
            <a:r>
              <a:t>[1] S. Palazzo et al., "Decoding brain representations by multimodal learning of neural activity and visual features," IEEE TPAMI, vol. 43, no. 11, pp. 3833–3849, 2021.</a:t>
            </a:r>
          </a:p>
          <a:p>
            <a:pPr algn="l">
              <a:defRPr sz="1050">
                <a:solidFill>
                  <a:srgbClr val="475569"/>
                </a:solidFill>
              </a:defRPr>
            </a:pPr>
            <a:r>
              <a:t>[2] W. Wang, D. Tran, and M. Feiszli, "What makes training multi-modal networks hard?," in Proc. IEEE/CVF CVPR, 2020, pp. 12695–12704.</a:t>
            </a:r>
          </a:p>
          <a:p>
            <a:pPr algn="l">
              <a:defRPr sz="1050">
                <a:solidFill>
                  <a:srgbClr val="475569"/>
                </a:solidFill>
              </a:defRPr>
            </a:pPr>
            <a:r>
              <a:t>[3] A. Kastrati et al., "EEGEyeNet: A large-scale benchmark for simultaneous EEG and eye-tracking," in Adv. NeurIPS, vol. 34,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